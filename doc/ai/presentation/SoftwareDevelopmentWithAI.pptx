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88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3A166-1F31-487E-8A46-D11B4D0E59FD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7B3DDE-D4F3-48A2-A1E3-A61CF778A29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1796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Übersicht über den Ablauf der Präsentation. Ziel ist es, erst Kontext und Demo zu zeigen, dann die eingesetzten AI-Werkzeuge zu erklären und zum Schluss Erfahrungen und eine Einordnung zu 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Die gleiche Anwendung existiert als Web- und als Android-App. Beide greifen auf dasselbe Backend zu. Das ist wichtig, weil AI-Unterstützung über alle Ebenen hinweg genutzt wurde.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Hier sehen wir die logische Architektur. Mehrere Clients greifen auf eine gemeinsame REST-API zu. Die Persistenz ist produktiv PostgreSQL, lokal wird H2 für Entwicklung und Tests genutzt.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Die Anwendung läuft containerisiert in AWS. Docker ermöglicht reproduzierbare Builds, ECS Fargate reduziert operativen Aufwand. Nach dieser Folie folgt die Live-Demo.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Wir nutzen nicht ein einzelnes Tool, sondern eine Kombination. Junie ist stark in der direkten Code-Arbeit in der IDE, ChatGPT unterstützt eher konzeptionell und bei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Wichtig ist ein strukturierter Ablauf. AI arbeitet nicht „magisch“, sondern folgt klaren Vorgaben. Der Entwickler bleibt jederzeit verantwortlich und prüft die Ergebnisse kritisch.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Junie kennt den Projektkontext, Dateien, Abhängigkeiten und Tests. Das macht das Tool besonders effizient für Implementierung, Refactoring und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ChatGPT wird bewusst extern genutzt. Es ist ideal für Reviews, Ideen und Formulierungen, hat aber keinen direkten Zugriff auf den Code. Das reduziert Risiken im Firmenumfeld.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Prompting-Kompetenz bedeutet: AI liefert nur so gute Ergebnisse wie die Aufgabenstellung. Gute Prompts erfordern Domänenwissen, technisches Verständnis und klare Ziele. AI ersetzt kein Know-how – sie verstärkt 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Die Demo zeigt, dass AI heute produktiv eingesetzt werden kann. Entscheidend ist die richtige Kombination von Werkzeugen und die Einbettung in bestehende Entwicklungsprozesse.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Abschliessende Kernbotschaft: AI beschleunigt Entwicklung, verbessert Qualität, ersetzt aber nicht die Verantwortung des Entwicklers.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645F-1A31-6CE8-574C-18E1132DC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1062"/>
            <a:ext cx="9144000" cy="772953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>
              <a:defRPr sz="2200"/>
            </a:pPr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C8D79D-50FF-8B59-04A1-B29713DAE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01367"/>
            <a:ext cx="9144000" cy="77295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 sz="2200"/>
            </a:pPr>
            <a:r>
              <a:rPr lang="en-US" dirty="0"/>
              <a:t>Click to edit Master subtitle style</a:t>
            </a:r>
            <a:endParaRPr lang="de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B5305-14BF-5820-CD35-8619AD69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 sz="2200"/>
            </a:pPr>
            <a:fld id="{0CDDCF47-76FA-4B38-9020-A0E57F41036A}" type="datetimeFigureOut">
              <a:rPr lang="de-CH" sz="2200" smtClean="0"/>
              <a:pPr>
                <a:defRPr sz="2200"/>
              </a:pPr>
              <a:t>14.01.2026</a:t>
            </a:fld>
            <a:endParaRPr lang="de-CH" sz="2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95871-525D-3BA6-E8EE-B5A724474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E07E3-893A-0853-3C7A-8C668F1A4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41153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sz="2200"/>
            </a:pPr>
            <a:r>
              <a:rPr lang="en-US"/>
              <a:t>Click to edit Master text styles</a:t>
            </a:r>
          </a:p>
          <a:p>
            <a:pPr lvl="1">
              <a:defRPr sz="1800"/>
            </a:pPr>
            <a:r>
              <a:rPr lang="en-US"/>
              <a:t>Second level</a:t>
            </a:r>
          </a:p>
          <a:p>
            <a:pPr lvl="2">
              <a:defRPr sz="1600"/>
            </a:pPr>
            <a:r>
              <a:rPr lang="en-US"/>
              <a:t>Third level</a:t>
            </a:r>
          </a:p>
          <a:p>
            <a:pPr lvl="3">
              <a:defRPr sz="1600"/>
            </a:pPr>
            <a:r>
              <a:rPr lang="en-US"/>
              <a:t>Fourth level</a:t>
            </a:r>
          </a:p>
          <a:p>
            <a:pPr lvl="4">
              <a:defRPr sz="1600"/>
            </a:pPr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A734B-4CD1-2DB0-7989-A2F00464B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14.01.2026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85F71-E08F-C375-773E-3F24B2B3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5723F-79BB-3AAA-2D4F-11447865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1851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889A-454C-2F0D-AD28-C2A5F3800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B2B49-4CE6-CD43-6352-E229385F1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 sz="2200"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324EA-BE21-5A3C-9FEE-47B41FD5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14.01.2026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D7C41-2A0C-B777-51BA-8891E08F4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4E09C-F552-F2EC-2CE1-BC16886E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5722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9A73-1ED0-3410-F8C0-EF5D675D2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EAEBD-1780-813E-AEBF-2B206E328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 sz="2200"/>
            </a:pPr>
            <a:r>
              <a:rPr lang="en-US"/>
              <a:t>Click to edit Master text styles</a:t>
            </a:r>
          </a:p>
          <a:p>
            <a:pPr lvl="1">
              <a:defRPr sz="1800"/>
            </a:pPr>
            <a:r>
              <a:rPr lang="en-US"/>
              <a:t>Second level</a:t>
            </a:r>
          </a:p>
          <a:p>
            <a:pPr lvl="2">
              <a:defRPr sz="1600"/>
            </a:pPr>
            <a:r>
              <a:rPr lang="en-US"/>
              <a:t>Third level</a:t>
            </a:r>
          </a:p>
          <a:p>
            <a:pPr lvl="3">
              <a:defRPr sz="1600"/>
            </a:pPr>
            <a:r>
              <a:rPr lang="en-US"/>
              <a:t>Fourth level</a:t>
            </a:r>
          </a:p>
          <a:p>
            <a:pPr lvl="4">
              <a:defRPr sz="1600"/>
            </a:pPr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B4A00-0B7B-C24C-9E72-E5E324A66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 sz="2200"/>
            </a:pPr>
            <a:r>
              <a:rPr lang="en-US"/>
              <a:t>Click to edit Master text styles</a:t>
            </a:r>
          </a:p>
          <a:p>
            <a:pPr lvl="1">
              <a:defRPr sz="1800"/>
            </a:pPr>
            <a:r>
              <a:rPr lang="en-US"/>
              <a:t>Second level</a:t>
            </a:r>
          </a:p>
          <a:p>
            <a:pPr lvl="2">
              <a:defRPr sz="1600"/>
            </a:pPr>
            <a:r>
              <a:rPr lang="en-US"/>
              <a:t>Third level</a:t>
            </a:r>
          </a:p>
          <a:p>
            <a:pPr lvl="3">
              <a:defRPr sz="1600"/>
            </a:pPr>
            <a:r>
              <a:rPr lang="en-US"/>
              <a:t>Fourth level</a:t>
            </a:r>
          </a:p>
          <a:p>
            <a:pPr lvl="4">
              <a:defRPr sz="1600"/>
            </a:pPr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8E839-9E94-873D-10A8-846AEFB95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14.01.2026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4CD15-1079-5C98-706E-E902DC2C9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E6689-E738-7C70-8B84-F3D781BA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96444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E7E7-96FA-67F1-C1AF-6AE0E0A13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B2645-0175-507B-9634-97EBCC4E6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sz="2200"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9AD91-7C36-8CF9-B61A-91D6FFE45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 sz="2200"/>
            </a:pPr>
            <a:r>
              <a:rPr lang="en-US"/>
              <a:t>Click to edit Master text styles</a:t>
            </a:r>
          </a:p>
          <a:p>
            <a:pPr lvl="1">
              <a:defRPr sz="1800"/>
            </a:pPr>
            <a:r>
              <a:rPr lang="en-US"/>
              <a:t>Second level</a:t>
            </a:r>
          </a:p>
          <a:p>
            <a:pPr lvl="2">
              <a:defRPr sz="1600"/>
            </a:pPr>
            <a:r>
              <a:rPr lang="en-US"/>
              <a:t>Third level</a:t>
            </a:r>
          </a:p>
          <a:p>
            <a:pPr lvl="3">
              <a:defRPr sz="1600"/>
            </a:pPr>
            <a:r>
              <a:rPr lang="en-US"/>
              <a:t>Fourth level</a:t>
            </a:r>
          </a:p>
          <a:p>
            <a:pPr lvl="4">
              <a:defRPr sz="1600"/>
            </a:pPr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5748DD-FDDB-A0B0-4B02-3404E19CEE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sz="2200"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18D38B-3A71-8433-843A-AE01E8E21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 sz="2200"/>
            </a:pPr>
            <a:r>
              <a:rPr lang="en-US"/>
              <a:t>Click to edit Master text styles</a:t>
            </a:r>
          </a:p>
          <a:p>
            <a:pPr lvl="1">
              <a:defRPr sz="1800"/>
            </a:pPr>
            <a:r>
              <a:rPr lang="en-US"/>
              <a:t>Second level</a:t>
            </a:r>
          </a:p>
          <a:p>
            <a:pPr lvl="2">
              <a:defRPr sz="1600"/>
            </a:pPr>
            <a:r>
              <a:rPr lang="en-US"/>
              <a:t>Third level</a:t>
            </a:r>
          </a:p>
          <a:p>
            <a:pPr lvl="3">
              <a:defRPr sz="1600"/>
            </a:pPr>
            <a:r>
              <a:rPr lang="en-US"/>
              <a:t>Fourth level</a:t>
            </a:r>
          </a:p>
          <a:p>
            <a:pPr lvl="4">
              <a:defRPr sz="1600"/>
            </a:pPr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C3B926-E6DF-FE18-0D2D-D3573B206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14.01.2026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7788E4-70E6-44CA-D74A-D431E586A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5EDAF8-2112-E9DC-C955-342AEDAC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39730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DC85-E0F7-4A7D-138C-EF9A1B13F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C2FDBE-648F-58E1-C14F-DE05ED907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14.01.2026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6400A4-5B96-24F1-9F17-70934F08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83FEC-706C-967F-D898-AEE204125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52600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22A5EB-5A31-D7ED-13C0-EF35EB094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14.01.2026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9E9A6E-4C86-924D-8A71-9248D16FB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6BA0E-364C-7212-62F7-A5023D877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2032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B87DB-CDB9-EF50-CBAF-39439BEB0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7AD62-4D6C-0287-5B38-7632F2F7F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 sz="2200"/>
            </a:pPr>
            <a:r>
              <a:rPr lang="en-US"/>
              <a:t>Click to edit Master text styles</a:t>
            </a:r>
          </a:p>
          <a:p>
            <a:pPr lvl="1">
              <a:defRPr sz="1800"/>
            </a:pPr>
            <a:r>
              <a:rPr lang="en-US"/>
              <a:t>Second level</a:t>
            </a:r>
          </a:p>
          <a:p>
            <a:pPr lvl="2">
              <a:defRPr sz="1600"/>
            </a:pPr>
            <a:r>
              <a:rPr lang="en-US"/>
              <a:t>Third level</a:t>
            </a:r>
          </a:p>
          <a:p>
            <a:pPr lvl="3">
              <a:defRPr sz="1600"/>
            </a:pPr>
            <a:r>
              <a:rPr lang="en-US"/>
              <a:t>Fourth level</a:t>
            </a:r>
          </a:p>
          <a:p>
            <a:pPr lvl="4">
              <a:defRPr sz="1600"/>
            </a:pPr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473D0-8A21-A81C-AA62-A2C4197A1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 sz="2200"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6E07D-F383-ABBB-6184-740C86C9C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14.01.2026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CB14F-19CA-D5F9-9311-E010B5B00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62331-B11F-F9F4-384A-942A220F6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29542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E4137-0E47-B67C-C936-950EAC53C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4494F4-DC2C-791F-93D2-947E86B48D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 sz="2200"/>
            </a:pP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DAD82-D473-88D5-185F-C52DAB657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 sz="2200"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55EE0-EE99-9C98-B11D-9FDA5813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14.01.2026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86DA1-01CE-1A83-592D-135CF816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A987-8EDA-E615-B9E2-88266C6C0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846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9ACA-9F1C-81D8-8EA0-7ABE93151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B0B540-422B-4F87-B268-83469B644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 sz="2200"/>
            </a:pPr>
            <a:r>
              <a:rPr lang="en-US"/>
              <a:t>Click to edit Master text styles</a:t>
            </a:r>
          </a:p>
          <a:p>
            <a:pPr lvl="1">
              <a:defRPr sz="1800"/>
            </a:pPr>
            <a:r>
              <a:rPr lang="en-US"/>
              <a:t>Second level</a:t>
            </a:r>
          </a:p>
          <a:p>
            <a:pPr lvl="2">
              <a:defRPr sz="1600"/>
            </a:pPr>
            <a:r>
              <a:rPr lang="en-US"/>
              <a:t>Third level</a:t>
            </a:r>
          </a:p>
          <a:p>
            <a:pPr lvl="3">
              <a:defRPr sz="1600"/>
            </a:pPr>
            <a:r>
              <a:rPr lang="en-US"/>
              <a:t>Fourth level</a:t>
            </a:r>
          </a:p>
          <a:p>
            <a:pPr lvl="4">
              <a:defRPr sz="1600"/>
            </a:pPr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29034-E9DF-BB05-8C73-A6C003B1C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14.01.2026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0ED09-0611-4957-4CA6-FFFAC0282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5DE66-FBD0-48BC-37D1-827493BC0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803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B475E0-0DA6-D8E9-13FB-C0C7768C3A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84D5B-3BE1-6DF8-E2BA-6C5A04CDF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 sz="2200"/>
            </a:pPr>
            <a:r>
              <a:rPr lang="en-US"/>
              <a:t>Click to edit Master text styles</a:t>
            </a:r>
          </a:p>
          <a:p>
            <a:pPr lvl="1">
              <a:defRPr sz="1800"/>
            </a:pPr>
            <a:r>
              <a:rPr lang="en-US"/>
              <a:t>Second level</a:t>
            </a:r>
          </a:p>
          <a:p>
            <a:pPr lvl="2">
              <a:defRPr sz="1600"/>
            </a:pPr>
            <a:r>
              <a:rPr lang="en-US"/>
              <a:t>Third level</a:t>
            </a:r>
          </a:p>
          <a:p>
            <a:pPr lvl="3">
              <a:defRPr sz="1600"/>
            </a:pPr>
            <a:r>
              <a:rPr lang="en-US"/>
              <a:t>Fourth level</a:t>
            </a:r>
          </a:p>
          <a:p>
            <a:pPr lvl="4">
              <a:defRPr sz="1600"/>
            </a:pPr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05979-2484-FF87-02F6-0AA1CF959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14.01.2026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7A5FC-7247-1393-B726-CD920B2A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D108C-07F3-F379-1929-726EB568E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08577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65766F-6108-765D-42F9-80F55CD316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031" y="1787951"/>
            <a:ext cx="8618780" cy="4503999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690" b="1" i="0" u="none">
                <a:solidFill>
                  <a:srgbClr val="FFFFFF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r>
              <a:rPr lang="de-CH" dirty="0"/>
              <a:t>Präsentationstitel</a:t>
            </a:r>
            <a:br>
              <a:rPr lang="de-CH" dirty="0"/>
            </a:br>
            <a:r>
              <a:rPr lang="de-CH" dirty="0"/>
              <a:t>(max. </a:t>
            </a:r>
            <a:r>
              <a:rPr lang="de-CH"/>
              <a:t>dreizeilig)</a:t>
            </a:r>
            <a:endParaRPr lang="de-CH" dirty="0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7B1B45FA-E305-A413-78CB-99F3966EEEBE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290031" y="272970"/>
            <a:ext cx="8618780" cy="232706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17" b="1" i="0" u="none">
                <a:solidFill>
                  <a:srgbClr val="FFFFFF"/>
                </a:solidFill>
                <a:latin typeface="Frutiger for ZKB Light" panose="020B0303030504020204" pitchFamily="34" charset="0"/>
              </a:defRPr>
            </a:lvl1pPr>
            <a:lvl2pPr marL="433608" indent="0" algn="ctr">
              <a:buNone/>
            </a:lvl2pPr>
            <a:lvl3pPr marL="867217" indent="0" algn="ctr">
              <a:buNone/>
            </a:lvl3pPr>
            <a:lvl4pPr marL="1300825" indent="0" algn="ctr">
              <a:buNone/>
            </a:lvl4pPr>
            <a:lvl5pPr marL="1734434" indent="0" algn="ctr">
              <a:buNone/>
            </a:lvl5pPr>
            <a:lvl6pPr marL="2168042" indent="0" algn="ctr">
              <a:buNone/>
            </a:lvl6pPr>
            <a:lvl7pPr marL="2601651" indent="0" algn="ctr">
              <a:buNone/>
            </a:lvl7pPr>
            <a:lvl8pPr marL="3035259" indent="0" algn="ctr">
              <a:buNone/>
            </a:lvl8pPr>
            <a:lvl9pPr marL="3468868" indent="0" algn="ctr">
              <a:buNone/>
            </a:lvl9pPr>
          </a:lstStyle>
          <a:p>
            <a:pPr>
              <a:defRPr sz="2200"/>
            </a:pPr>
            <a:r>
              <a:rPr lang="de-CH"/>
              <a:t>Titel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9A82973-AB3D-5053-4B99-D1016BB695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031" y="525467"/>
            <a:ext cx="8618780" cy="232706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 i="0" u="none">
                <a:solidFill>
                  <a:srgbClr val="FFFFFF"/>
                </a:solidFill>
                <a:latin typeface="Frutiger for ZKB Light" panose="020B0303030504020204" pitchFamily="34" charset="0"/>
              </a:defRPr>
            </a:lvl1pPr>
          </a:lstStyle>
          <a:p>
            <a:pPr lvl="0">
              <a:defRPr sz="2200"/>
            </a:pPr>
            <a:r>
              <a:rPr lang="de-CH"/>
              <a:t>Referenz, Abteilung, Datum</a:t>
            </a:r>
            <a:endParaRPr lang="de-CH" dirty="0"/>
          </a:p>
        </p:txBody>
      </p:sp>
      <p:pic>
        <p:nvPicPr>
          <p:cNvPr id="10" name="ZKB_LOGO">
            <a:extLst>
              <a:ext uri="{FF2B5EF4-FFF2-40B4-BE49-F238E27FC236}">
                <a16:creationId xmlns:a16="http://schemas.microsoft.com/office/drawing/2014/main" id="{5A92113E-222A-880D-9911-9770422C9D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1478" y="296854"/>
            <a:ext cx="1900499" cy="443954"/>
          </a:xfrm>
          <a:prstGeom prst="rect">
            <a:avLst/>
          </a:prstGeom>
        </p:spPr>
      </p:pic>
      <p:sp>
        <p:nvSpPr>
          <p:cNvPr id="11" name="Hilfetext">
            <a:extLst>
              <a:ext uri="{FF2B5EF4-FFF2-40B4-BE49-F238E27FC236}">
                <a16:creationId xmlns:a16="http://schemas.microsoft.com/office/drawing/2014/main" id="{236C1A26-0EEE-D3C3-BCF4-BBC843AF15E3}"/>
              </a:ext>
            </a:extLst>
          </p:cNvPr>
          <p:cNvSpPr/>
          <p:nvPr userDrawn="1"/>
        </p:nvSpPr>
        <p:spPr>
          <a:xfrm>
            <a:off x="8973119" y="1312881"/>
            <a:ext cx="3059292" cy="169831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defRPr sz="2200"/>
            </a:pPr>
            <a:r>
              <a:rPr lang="de-CH" sz="1517" b="1" i="0" u="none" dirty="0">
                <a:solidFill>
                  <a:srgbClr val="FFFFFF"/>
                </a:solidFill>
                <a:latin typeface="Frutiger for ZKB Light" panose="020B0303030504020204" pitchFamily="34" charset="0"/>
              </a:rPr>
              <a:t>Bild Titelfolie ändern</a:t>
            </a:r>
            <a:br>
              <a:rPr lang="de-CH" sz="1517" b="1" i="0" u="none" dirty="0">
                <a:solidFill>
                  <a:srgbClr val="FFFFFF"/>
                </a:solidFill>
                <a:latin typeface="Frutiger for ZKB Light" panose="020B0303030504020204" pitchFamily="34" charset="0"/>
              </a:rPr>
            </a:br>
            <a:r>
              <a:rPr lang="de-CH" sz="1517" b="1" i="0" u="none" dirty="0">
                <a:solidFill>
                  <a:srgbClr val="FFFFFF"/>
                </a:solidFill>
                <a:latin typeface="Frutiger for ZKB Light" panose="020B0303030504020204" pitchFamily="34" charset="0"/>
              </a:rPr>
              <a:t>über die ZKB-Lasche</a:t>
            </a:r>
            <a:br>
              <a:rPr lang="de-CH" sz="1517" b="1" i="0" u="none" dirty="0">
                <a:solidFill>
                  <a:srgbClr val="FFFFFF"/>
                </a:solidFill>
                <a:latin typeface="Frutiger for ZKB Light" panose="020B0303030504020204" pitchFamily="34" charset="0"/>
              </a:rPr>
            </a:br>
            <a:br>
              <a:rPr lang="de-CH" sz="1517" b="1" i="0" u="none" dirty="0">
                <a:solidFill>
                  <a:srgbClr val="FFFFFF"/>
                </a:solidFill>
                <a:latin typeface="Frutiger for ZKB Light" panose="020B0303030504020204" pitchFamily="34" charset="0"/>
              </a:rPr>
            </a:br>
            <a:r>
              <a:rPr lang="de-CH" sz="1517" b="1" i="0" u="none" dirty="0">
                <a:solidFill>
                  <a:srgbClr val="FFFFFF"/>
                </a:solidFill>
                <a:latin typeface="Frutiger for ZKB Light" panose="020B0303030504020204" pitchFamily="34" charset="0"/>
              </a:rPr>
              <a:t>Button: Bild Titelfolie</a:t>
            </a:r>
          </a:p>
        </p:txBody>
      </p:sp>
      <p:grpSp>
        <p:nvGrpSpPr>
          <p:cNvPr id="15" name="StempelA" hidden="1">
            <a:extLst>
              <a:ext uri="{FF2B5EF4-FFF2-40B4-BE49-F238E27FC236}">
                <a16:creationId xmlns:a16="http://schemas.microsoft.com/office/drawing/2014/main" id="{D45DCE91-4B51-CAEF-3B08-E0B079E6E462}"/>
              </a:ext>
            </a:extLst>
          </p:cNvPr>
          <p:cNvGrpSpPr/>
          <p:nvPr userDrawn="1"/>
        </p:nvGrpSpPr>
        <p:grpSpPr>
          <a:xfrm>
            <a:off x="11375960" y="6014647"/>
            <a:ext cx="526010" cy="277303"/>
            <a:chOff x="1270000" y="1270000"/>
            <a:chExt cx="554639" cy="292388"/>
          </a:xfrm>
        </p:grpSpPr>
        <p:sp>
          <p:nvSpPr>
            <p:cNvPr id="12" name="Textfeld 11" hidden="1">
              <a:extLst>
                <a:ext uri="{FF2B5EF4-FFF2-40B4-BE49-F238E27FC236}">
                  <a16:creationId xmlns:a16="http://schemas.microsoft.com/office/drawing/2014/main" id="{61BB873D-AA17-4BEA-EE14-5BAB2D51E1D3}"/>
                </a:ext>
              </a:extLst>
            </p:cNvPr>
            <p:cNvSpPr txBox="1"/>
            <p:nvPr userDrawn="1"/>
          </p:nvSpPr>
          <p:spPr>
            <a:xfrm>
              <a:off x="1270000" y="1270000"/>
              <a:ext cx="554639" cy="292388"/>
            </a:xfrm>
            <a:prstGeom prst="rect">
              <a:avLst/>
            </a:prstGeom>
            <a:noFill/>
            <a:ln cmpd="sng">
              <a:noFill/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88900" tIns="38100" rIns="76200" bIns="38100" rtlCol="0" anchor="t" anchorCtr="0">
              <a:noAutofit/>
            </a:bodyPr>
            <a:lstStyle/>
            <a:p>
              <a:pPr marL="0" indent="-271005" algn="l" defTabSz="269555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CB4"/>
                </a:buClr>
                <a:buFont typeface="Frutiger for ZKB Light" panose="020B0303030504020204" pitchFamily="34" charset="0"/>
                <a:buNone/>
              </a:pPr>
              <a:r>
                <a:rPr lang="de-CH" sz="1328" b="0" i="0" u="none" dirty="0" err="1">
                  <a:solidFill>
                    <a:srgbClr val="003CB4"/>
                  </a:solidFill>
                  <a:latin typeface="Frutiger for ZKB Light" panose="020B0303030504020204" pitchFamily="34" charset="0"/>
                </a:rPr>
                <a:t>Draft</a:t>
              </a:r>
              <a:endParaRPr lang="de-CH" sz="1328" b="0" i="0" u="none" dirty="0">
                <a:solidFill>
                  <a:srgbClr val="003CB4"/>
                </a:solidFill>
                <a:latin typeface="Frutiger for ZKB Light" panose="020B0303030504020204" pitchFamily="34" charset="0"/>
              </a:endParaRPr>
            </a:p>
          </p:txBody>
        </p:sp>
        <p:cxnSp>
          <p:nvCxnSpPr>
            <p:cNvPr id="13" name="Gerader Verbinder 12" hidden="1">
              <a:extLst>
                <a:ext uri="{FF2B5EF4-FFF2-40B4-BE49-F238E27FC236}">
                  <a16:creationId xmlns:a16="http://schemas.microsoft.com/office/drawing/2014/main" id="{16BF8AA4-8278-0B95-C0B0-12B392F55CDC}"/>
                </a:ext>
              </a:extLst>
            </p:cNvPr>
            <p:cNvCxnSpPr/>
            <p:nvPr userDrawn="1"/>
          </p:nvCxnSpPr>
          <p:spPr>
            <a:xfrm>
              <a:off x="1270000" y="1270000"/>
              <a:ext cx="554639" cy="0"/>
            </a:xfrm>
            <a:prstGeom prst="line">
              <a:avLst/>
            </a:prstGeom>
            <a:ln w="6350" cap="flat" cmpd="sng" algn="ctr">
              <a:solidFill>
                <a:srgbClr val="003CB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 hidden="1">
              <a:extLst>
                <a:ext uri="{FF2B5EF4-FFF2-40B4-BE49-F238E27FC236}">
                  <a16:creationId xmlns:a16="http://schemas.microsoft.com/office/drawing/2014/main" id="{844FC251-4BAA-4668-7D9D-87B05430ACE9}"/>
                </a:ext>
              </a:extLst>
            </p:cNvPr>
            <p:cNvCxnSpPr/>
            <p:nvPr userDrawn="1"/>
          </p:nvCxnSpPr>
          <p:spPr>
            <a:xfrm>
              <a:off x="1270000" y="1562388"/>
              <a:ext cx="554639" cy="0"/>
            </a:xfrm>
            <a:prstGeom prst="line">
              <a:avLst/>
            </a:prstGeom>
            <a:ln w="6350" cap="flat" cmpd="sng" algn="ctr">
              <a:solidFill>
                <a:srgbClr val="003CB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7748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0A4AE7-72D4-F30F-AB0F-4EA3B9EA6E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030" y="272970"/>
            <a:ext cx="9656040" cy="81890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656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r>
              <a:rPr lang="de-CH"/>
              <a:t>Agenda</a:t>
            </a:r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F2EFDAA-C170-A142-FCF2-9C9F638B97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90031" y="6448909"/>
            <a:ext cx="290022" cy="180842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3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fld id="{DF46F67B-DFC5-4D4D-B823-2A149AD963A3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AE186C-2DB2-92A1-3D70-E6BA1B57D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052" y="6448909"/>
            <a:ext cx="9366017" cy="180842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3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98CF490-3399-447A-4FA8-C3B2DB430BEA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90030" y="1787951"/>
            <a:ext cx="9656040" cy="450399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695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>
              <a:defRPr sz="2200"/>
            </a:pPr>
            <a:r>
              <a:rPr lang="de-CH" dirty="0" err="1"/>
              <a:t>Agendapunkt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25992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F4A75C-F916-4BBB-C762-C7B82E3D6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030" y="272970"/>
            <a:ext cx="9656040" cy="81890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656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r>
              <a:rPr lang="de-CH"/>
              <a:t>Titel (max. zweizeilig)</a:t>
            </a:r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35A555B-E14C-1089-F1E0-19263815DF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90031" y="6448909"/>
            <a:ext cx="290022" cy="180842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3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fld id="{DF46F67B-DFC5-4D4D-B823-2A149AD963A3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BAC495-E2B9-11BA-4B37-AE93E7D2C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052" y="6448909"/>
            <a:ext cx="9366017" cy="180842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3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endParaRPr lang="de-CH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BA0856B-745A-C4FD-017F-283D91F7390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290031" y="1787951"/>
            <a:ext cx="5669488" cy="450399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695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>
              <a:defRPr sz="2200"/>
            </a:pPr>
            <a:r>
              <a:rPr lang="de-CH" dirty="0"/>
              <a:t>Erste Ebene</a:t>
            </a:r>
          </a:p>
          <a:p>
            <a:pPr lvl="1">
              <a:defRPr sz="1800"/>
            </a:pPr>
            <a:r>
              <a:rPr lang="de-CH" dirty="0"/>
              <a:t>Zweite Ebene</a:t>
            </a:r>
          </a:p>
          <a:p>
            <a:pPr lvl="2">
              <a:defRPr sz="1600"/>
            </a:pPr>
            <a:r>
              <a:rPr lang="de-CH" dirty="0"/>
              <a:t>Dritte Ebene</a:t>
            </a:r>
          </a:p>
          <a:p>
            <a:pPr lvl="3">
              <a:defRPr sz="1600"/>
            </a:pPr>
            <a:r>
              <a:rPr lang="de-CH" dirty="0"/>
              <a:t>Vierte Ebene</a:t>
            </a:r>
          </a:p>
          <a:p>
            <a:pPr lvl="4">
              <a:defRPr sz="1600"/>
            </a:pPr>
            <a:r>
              <a:rPr lang="de-CH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2814876-CE70-86F0-D8E3-B9AB5CC2106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32481" y="1787951"/>
            <a:ext cx="5669488" cy="450399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695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>
              <a:defRPr sz="2200"/>
            </a:pPr>
            <a:r>
              <a:rPr lang="de-CH" dirty="0"/>
              <a:t>Erste Ebene</a:t>
            </a:r>
          </a:p>
          <a:p>
            <a:pPr lvl="1">
              <a:defRPr sz="1800"/>
            </a:pPr>
            <a:r>
              <a:rPr lang="de-CH" dirty="0"/>
              <a:t>Zweite Ebene</a:t>
            </a:r>
          </a:p>
          <a:p>
            <a:pPr lvl="2">
              <a:defRPr sz="1600"/>
            </a:pPr>
            <a:r>
              <a:rPr lang="de-CH" dirty="0"/>
              <a:t>Dritte Ebene</a:t>
            </a:r>
          </a:p>
          <a:p>
            <a:pPr lvl="3">
              <a:defRPr sz="1600"/>
            </a:pPr>
            <a:r>
              <a:rPr lang="de-CH" dirty="0"/>
              <a:t>Vierte Ebene</a:t>
            </a:r>
          </a:p>
          <a:p>
            <a:pPr lvl="4">
              <a:defRPr sz="1600"/>
            </a:pPr>
            <a:r>
              <a:rPr lang="de-CH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501638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 Spalten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32250C-4FC6-E157-1E58-C36235997F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030" y="272970"/>
            <a:ext cx="9656040" cy="81890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656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r>
              <a:rPr lang="de-CH"/>
              <a:t>Titel (max. zweizeilig)</a:t>
            </a:r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8CAAB6A-0383-42BA-C3C6-3ACEB23AA4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90031" y="6448909"/>
            <a:ext cx="290022" cy="180842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3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fld id="{DF46F67B-DFC5-4D4D-B823-2A149AD963A3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F3EC20-05C3-76EB-FF1E-B5346B86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052" y="6448909"/>
            <a:ext cx="9366017" cy="180842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3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endParaRPr lang="de-CH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91030FD-48D8-BCF6-7B28-C54E16A06BE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290031" y="2402133"/>
            <a:ext cx="5669488" cy="3889818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695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>
              <a:defRPr sz="2200"/>
            </a:pPr>
            <a:r>
              <a:rPr lang="de-CH" dirty="0"/>
              <a:t>Erste Ebene</a:t>
            </a:r>
          </a:p>
          <a:p>
            <a:pPr lvl="1">
              <a:defRPr sz="1800"/>
            </a:pPr>
            <a:r>
              <a:rPr lang="de-CH" dirty="0"/>
              <a:t>Zweite Ebene</a:t>
            </a:r>
          </a:p>
          <a:p>
            <a:pPr lvl="2">
              <a:defRPr sz="1600"/>
            </a:pPr>
            <a:r>
              <a:rPr lang="de-CH" dirty="0"/>
              <a:t>Dritte Ebene</a:t>
            </a:r>
          </a:p>
          <a:p>
            <a:pPr lvl="3">
              <a:defRPr sz="1600"/>
            </a:pPr>
            <a:r>
              <a:rPr lang="de-CH" dirty="0"/>
              <a:t>Vierte Ebene</a:t>
            </a:r>
          </a:p>
          <a:p>
            <a:pPr lvl="4">
              <a:defRPr sz="1600"/>
            </a:pPr>
            <a:r>
              <a:rPr lang="de-CH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168B6A3-25D0-3CE9-E422-F5B8A297165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32481" y="2402133"/>
            <a:ext cx="5669488" cy="3889818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695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>
              <a:defRPr sz="2200"/>
            </a:pPr>
            <a:r>
              <a:rPr lang="de-CH" dirty="0"/>
              <a:t>Erste Ebene</a:t>
            </a:r>
          </a:p>
          <a:p>
            <a:pPr lvl="1">
              <a:defRPr sz="1800"/>
            </a:pPr>
            <a:r>
              <a:rPr lang="de-CH" dirty="0"/>
              <a:t>Zweite Ebene</a:t>
            </a:r>
          </a:p>
          <a:p>
            <a:pPr lvl="2">
              <a:defRPr sz="1600"/>
            </a:pPr>
            <a:r>
              <a:rPr lang="de-CH" dirty="0"/>
              <a:t>Dritte Ebene</a:t>
            </a:r>
          </a:p>
          <a:p>
            <a:pPr lvl="3">
              <a:defRPr sz="1600"/>
            </a:pPr>
            <a:r>
              <a:rPr lang="de-CH" dirty="0"/>
              <a:t>Vierte Ebene</a:t>
            </a:r>
          </a:p>
          <a:p>
            <a:pPr lvl="4">
              <a:defRPr sz="1600"/>
            </a:pPr>
            <a:r>
              <a:rPr lang="de-CH" dirty="0"/>
              <a:t>Fünfte Ebene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36221A3-5F93-2D83-D956-206FC82925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0031" y="1787950"/>
            <a:ext cx="5669488" cy="614182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1" i="0" u="none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 lvl="0">
              <a:defRPr sz="2200"/>
            </a:pPr>
            <a:r>
              <a:rPr lang="de-CH"/>
              <a:t>Untertitel</a:t>
            </a:r>
            <a:endParaRPr lang="de-CH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C991335-357B-ACA8-4198-AD27EBDBF0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2481" y="1787950"/>
            <a:ext cx="5669488" cy="614182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1" i="0" u="none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 lvl="0">
              <a:defRPr sz="2200"/>
            </a:pPr>
            <a:r>
              <a:rPr lang="de-CH"/>
              <a:t>Untertitel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55002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5AFB7A-63F1-7031-A47A-ADF545E67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03C50-70CC-F7C7-F4EF-687D96DEF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14178-AE9D-BD0C-8A82-A4C42D722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DDCF47-76FA-4B38-9020-A0E57F41036A}" type="datetimeFigureOut">
              <a:rPr lang="de-CH" smtClean="0"/>
              <a:t>14.01.2026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ACB1D-8930-30B2-9F21-5C742E24F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F480D-A77D-EE8D-E026-FF0EC6FF0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0396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645F-1A31-6CE8-574C-18E1132DC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1062"/>
            <a:ext cx="9144000" cy="772953"/>
          </a:xfrm>
        </p:spPr>
        <p:txBody>
          <a:bodyPr/>
          <a:lstStyle/>
          <a:p>
            <a:pPr marL="0" lvl="0" indent="0">
              <a:buNone/>
            </a:pPr>
            <a:r>
              <a:t>Software-Entwicklung mit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C8D79D-50FF-8B59-04A1-B29713DAE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01367"/>
            <a:ext cx="9144000" cy="772953"/>
          </a:xfrm>
        </p:spPr>
        <p:txBody>
          <a:bodyPr/>
          <a:lstStyle/>
          <a:p>
            <a:pPr marL="0" lvl="0" indent="0">
              <a:buNone/>
            </a:pPr>
            <a:r>
              <a:t>AI-gestützte Softwareentwicklung: von Idee zu Code, Tests und Doku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B5305-14BF-5820-CD35-8619AD69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Jürg Good 13.1.2026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Demo &amp; Kontext</a:t>
            </a:r>
          </a:p>
          <a:p>
            <a:pPr lvl="1"/>
            <a:r>
              <a:t>Angular Web &amp; Android App</a:t>
            </a:r>
          </a:p>
          <a:p>
            <a:pPr lvl="0"/>
            <a:r>
              <a:rPr b="1"/>
              <a:t>AI-Werkzeuge</a:t>
            </a:r>
          </a:p>
          <a:p>
            <a:pPr lvl="1"/>
            <a:r>
              <a:t>Junie AI, ChatGPT</a:t>
            </a:r>
          </a:p>
          <a:p>
            <a:pPr lvl="0"/>
            <a:r>
              <a:rPr b="1"/>
              <a:t>Praxis</a:t>
            </a:r>
          </a:p>
          <a:p>
            <a:pPr lvl="1"/>
            <a:r>
              <a:t>Vorgehensweise &amp; Beispiele</a:t>
            </a:r>
          </a:p>
          <a:p>
            <a:pPr lvl="1"/>
            <a:r>
              <a:t>AI implementiert Feature</a:t>
            </a:r>
          </a:p>
          <a:p>
            <a:pPr lvl="0"/>
            <a:r>
              <a:rPr b="1"/>
              <a:t>Einordnung</a:t>
            </a:r>
          </a:p>
          <a:p>
            <a:pPr lvl="1"/>
            <a:r>
              <a:t>Fazit &amp; Ausblick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9A73-1ED0-3410-F8C0-EF5D675D2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Anwendungsübersicht</a:t>
            </a:r>
          </a:p>
        </p:txBody>
      </p:sp>
      <p:pic>
        <p:nvPicPr>
          <p:cNvPr id="3" name="Picture 1" descr="files/images/angular_task_menu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1993900"/>
            <a:ext cx="51816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838200" y="5651500"/>
            <a:ext cx="5181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b="1"/>
              <a:t>Angular Web-UI</a:t>
            </a:r>
            <a:r>
              <a:t> www.goodone.ch</a:t>
            </a:r>
          </a:p>
        </p:txBody>
      </p:sp>
      <p:pic>
        <p:nvPicPr>
          <p:cNvPr id="5" name="Picture 1" descr="files/images/android_task_menu.png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6756400" y="1816100"/>
            <a:ext cx="40132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TextBox 3"/>
          <p:cNvSpPr txBox="1">
            <a:spLocks noGrp="1"/>
          </p:cNvSpPr>
          <p:nvPr>
            <p:ph idx="1"/>
          </p:nvPr>
        </p:nvSpPr>
        <p:spPr>
          <a:xfrm>
            <a:off x="6172200" y="5651500"/>
            <a:ext cx="5181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b="1"/>
              <a:t>Android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Architekturübersicht – Infrastruktur</a:t>
            </a:r>
          </a:p>
        </p:txBody>
      </p:sp>
      <p:pic>
        <p:nvPicPr>
          <p:cNvPr id="3" name="Picture 1" descr="files/generated/architecture_overview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41700" y="1816100"/>
            <a:ext cx="5308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AI unterstützte Entwicklung</a:t>
            </a:r>
          </a:p>
        </p:txBody>
      </p:sp>
      <p:pic>
        <p:nvPicPr>
          <p:cNvPr id="3" name="Picture 1" descr="files/images/IdeIntegr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63800" y="1816100"/>
            <a:ext cx="72771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Architekturübersicht – Logisch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Clients</a:t>
            </a:r>
          </a:p>
          <a:p>
            <a:pPr lvl="1"/>
            <a:r>
              <a:t>Angular Web-UI</a:t>
            </a:r>
          </a:p>
          <a:p>
            <a:pPr lvl="1"/>
            <a:r>
              <a:t>Android App (Jetpack Compose)</a:t>
            </a:r>
          </a:p>
          <a:p>
            <a:pPr lvl="1"/>
            <a:r>
              <a:t>Test-Daten-Generator</a:t>
            </a:r>
          </a:p>
          <a:p>
            <a:pPr lvl="0"/>
            <a:r>
              <a:rPr b="1"/>
              <a:t>Backend</a:t>
            </a:r>
          </a:p>
          <a:p>
            <a:pPr lvl="1"/>
            <a:r>
              <a:t>Java, Spring Boot REST-API</a:t>
            </a:r>
          </a:p>
          <a:p>
            <a:pPr lvl="0"/>
            <a:r>
              <a:rPr b="1"/>
              <a:t>Persistenz</a:t>
            </a:r>
          </a:p>
          <a:p>
            <a:pPr lvl="1"/>
            <a:r>
              <a:t>PostgreSQL (AWS RDS)</a:t>
            </a:r>
          </a:p>
          <a:p>
            <a:pPr lvl="1"/>
            <a:r>
              <a:t>Lokal: H2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AI Toolset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Junie AI (JetBrains)</a:t>
            </a:r>
          </a:p>
          <a:p>
            <a:pPr lvl="1"/>
            <a:r>
              <a:t>Code-Generierung, Refactoring, Tests</a:t>
            </a:r>
          </a:p>
          <a:p>
            <a:pPr lvl="0"/>
            <a:r>
              <a:rPr b="1"/>
              <a:t>ChatGPT (OpenAI)</a:t>
            </a:r>
          </a:p>
          <a:p>
            <a:pPr lvl="1"/>
            <a:r>
              <a:t>UX-Design, Architektur-Reviews, Konzeptarbeit</a:t>
            </a:r>
          </a:p>
          <a:p>
            <a:pPr lvl="0"/>
            <a:r>
              <a:rPr b="1"/>
              <a:t>IDE-Integration</a:t>
            </a:r>
          </a:p>
          <a:p>
            <a:pPr lvl="1"/>
            <a:r>
              <a:t>IntelliJ IDEA, Android Studio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Vorgehen bei Design durch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AutoNum type="arabicPeriod"/>
            </a:pPr>
            <a:r>
              <a:rPr b="1"/>
              <a:t>Prompting</a:t>
            </a:r>
          </a:p>
          <a:p>
            <a:pPr lvl="1"/>
            <a:r>
              <a:t>Ziel und Kontext definieren</a:t>
            </a:r>
          </a:p>
          <a:p>
            <a:pPr marL="457200" lvl="0" indent="-457200">
              <a:buAutoNum type="arabicPeriod"/>
            </a:pPr>
            <a:r>
              <a:rPr b="1"/>
              <a:t>Struktur</a:t>
            </a:r>
          </a:p>
          <a:p>
            <a:pPr lvl="1"/>
            <a:r>
              <a:t>Entitäten, Attribute, Menüs</a:t>
            </a:r>
          </a:p>
          <a:p>
            <a:pPr marL="457200" lvl="0" indent="-457200">
              <a:buAutoNum type="arabicPeriod"/>
            </a:pPr>
            <a:r>
              <a:rPr b="1"/>
              <a:t>Planung</a:t>
            </a:r>
          </a:p>
          <a:p>
            <a:pPr lvl="1"/>
            <a:r>
              <a:t>Detaillierter Markdown-Plan</a:t>
            </a:r>
          </a:p>
          <a:p>
            <a:pPr marL="457200" lvl="0" indent="-457200">
              <a:buAutoNum type="arabicPeriod"/>
            </a:pPr>
            <a:r>
              <a:rPr b="1"/>
              <a:t>Review</a:t>
            </a:r>
          </a:p>
          <a:p>
            <a:pPr lvl="1"/>
            <a:r>
              <a:t>Entwickler prüft &amp; ergänzt</a:t>
            </a:r>
          </a:p>
          <a:p>
            <a:pPr marL="457200" lvl="0" indent="-457200">
              <a:buAutoNum type="arabicPeriod"/>
            </a:pPr>
            <a:r>
              <a:rPr b="1"/>
              <a:t>Implementierung</a:t>
            </a:r>
          </a:p>
          <a:p>
            <a:pPr lvl="1"/>
            <a:r>
              <a:t>Code + Tests durch AI</a:t>
            </a:r>
          </a:p>
          <a:p>
            <a:pPr marL="457200" lvl="0" indent="-457200">
              <a:buAutoNum type="arabicPeriod"/>
            </a:pPr>
            <a:r>
              <a:rPr b="1"/>
              <a:t>Qualität</a:t>
            </a:r>
          </a:p>
          <a:p>
            <a:pPr lvl="1"/>
            <a:r>
              <a:t>Entwickler bleibt verantwortlich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Prompting-Beispiele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Implementiere …</a:t>
            </a:r>
          </a:p>
          <a:p>
            <a:pPr lvl="0"/>
            <a:r>
              <a:t>Android App mit identischen Features wie Web</a:t>
            </a:r>
          </a:p>
          <a:p>
            <a:pPr lvl="0"/>
            <a:r>
              <a:t>Read-only Admin Access</a:t>
            </a:r>
          </a:p>
          <a:p>
            <a:pPr lvl="0"/>
            <a:r>
              <a:t>Behebe Defekt XYZ</a:t>
            </a:r>
          </a:p>
          <a:p>
            <a:pPr lvl="0"/>
            <a:r>
              <a:t>AWS Cloud Deployment</a:t>
            </a:r>
          </a:p>
          <a:p>
            <a:pPr lvl="0"/>
            <a:r>
              <a:t>UI-Integrationstests mit Cypress</a:t>
            </a:r>
          </a:p>
          <a:p>
            <a:pPr lvl="0"/>
            <a:r>
              <a:t>Architektur-Diagramm</a:t>
            </a:r>
          </a:p>
          <a:p>
            <a:pPr lvl="0"/>
            <a:r>
              <a:t>Confluence-Dokumentation</a:t>
            </a:r>
          </a:p>
          <a:p>
            <a:pPr lvl="0"/>
            <a:r>
              <a:t>Powerpoint-Päsentation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KI-gestützt mit Junie (IDE-zentriert)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Direkte IDE-Integration</a:t>
            </a:r>
          </a:p>
          <a:p>
            <a:pPr lvl="0"/>
            <a:r>
              <a:t>Kontext aus Projekt &amp; Code</a:t>
            </a:r>
          </a:p>
          <a:p>
            <a:pPr lvl="0"/>
            <a:r>
              <a:t>Schnelle Iterationen</a:t>
            </a:r>
          </a:p>
          <a:p>
            <a:pPr lvl="0"/>
            <a:r>
              <a:t>Fokus auf Implementierung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ChatGPT (extern &amp; beratend)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Architektur- &amp; UX-Feedback</a:t>
            </a:r>
          </a:p>
          <a:p>
            <a:pPr lvl="0"/>
            <a:r>
              <a:t>Alternative Lösungsansätze</a:t>
            </a:r>
          </a:p>
          <a:p>
            <a:pPr lvl="0"/>
            <a:r>
              <a:t>Formulierung &amp; Dokumentation</a:t>
            </a:r>
          </a:p>
          <a:p>
            <a:pPr lvl="0"/>
            <a:r>
              <a:t>Kein direkter Code-Zugriff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Einschränkungen im Firmenumfeld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Security &amp; Compliance</a:t>
            </a:r>
          </a:p>
          <a:p>
            <a:pPr lvl="1"/>
            <a:r>
              <a:t>Keine Kundendaten extern</a:t>
            </a:r>
          </a:p>
          <a:p>
            <a:pPr lvl="0"/>
            <a:r>
              <a:rPr b="1"/>
              <a:t>Tool-Vorgaben</a:t>
            </a:r>
          </a:p>
          <a:p>
            <a:pPr lvl="1"/>
            <a:r>
              <a:t>Zentrale AI-Freigaben</a:t>
            </a:r>
          </a:p>
          <a:p>
            <a:pPr lvl="0"/>
            <a:r>
              <a:rPr b="1"/>
              <a:t>Technologie-Gap</a:t>
            </a:r>
          </a:p>
          <a:p>
            <a:pPr lvl="1"/>
            <a:r>
              <a:t>Verzögerter Zugang zu aktuellen Modellen</a:t>
            </a:r>
          </a:p>
          <a:p>
            <a:pPr lvl="0"/>
            <a:r>
              <a:rPr b="1"/>
              <a:t>Know-how</a:t>
            </a:r>
          </a:p>
          <a:p>
            <a:pPr lvl="1"/>
            <a:r>
              <a:t>Prompting-Kompetenz nötig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Fazit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Demo bestätigt</a:t>
            </a:r>
            <a:r>
              <a:t>: AI ist produktionsreif</a:t>
            </a:r>
          </a:p>
          <a:p>
            <a:pPr lvl="0"/>
            <a:r>
              <a:rPr b="1"/>
              <a:t>Werkzeuge</a:t>
            </a:r>
            <a:r>
              <a:t>: Junie &amp; ChatGPT ergänzen sich ideal</a:t>
            </a:r>
          </a:p>
          <a:p>
            <a:pPr lvl="0"/>
            <a:r>
              <a:rPr b="1"/>
              <a:t>Praxis</a:t>
            </a:r>
            <a:r>
              <a:t>: Weniger Code, mehr Qualität</a:t>
            </a:r>
          </a:p>
          <a:p>
            <a:pPr lvl="0"/>
            <a:r>
              <a:rPr b="1"/>
              <a:t>Ausblick</a:t>
            </a:r>
            <a:r>
              <a:t>: AI-gestützte Entwicklung wird Standard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Schneller bauen. Besser verstehen. Qualität sichern.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Mit Junie AI &amp; ChatGPT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</Words>
  <Application>Microsoft Office PowerPoint</Application>
  <PresentationFormat>Widescreen</PresentationFormat>
  <Paragraphs>106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Frutiger for ZKB Light</vt:lpstr>
      <vt:lpstr>Office Theme</vt:lpstr>
      <vt:lpstr>Software-Entwicklung mit AI</vt:lpstr>
      <vt:lpstr>Agenda</vt:lpstr>
      <vt:lpstr>Anwendungsübersicht</vt:lpstr>
      <vt:lpstr>Architekturübersicht – Infrastruktur</vt:lpstr>
      <vt:lpstr>AI unterstützte Entwicklung</vt:lpstr>
      <vt:lpstr>Architekturübersicht – Logisch</vt:lpstr>
      <vt:lpstr>AI Toolset</vt:lpstr>
      <vt:lpstr>Vorgehen bei Design durch AI</vt:lpstr>
      <vt:lpstr>Prompting-Beispiele</vt:lpstr>
      <vt:lpstr>KI-gestützt mit Junie (IDE-zentriert)</vt:lpstr>
      <vt:lpstr>ChatGPT (extern &amp; beratend)</vt:lpstr>
      <vt:lpstr>Einschränkungen im Firmenumfeld</vt:lpstr>
      <vt:lpstr>Fazit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0</TotalTime>
  <Words>840</Words>
  <Application>Microsoft Office PowerPoint</Application>
  <PresentationFormat>Widescreen</PresentationFormat>
  <Paragraphs>58</Paragraphs>
  <Slides>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Aharoni</vt:lpstr>
      <vt:lpstr>Aptos</vt:lpstr>
      <vt:lpstr>Aptos Display</vt:lpstr>
      <vt:lpstr>Arial</vt:lpstr>
      <vt:lpstr>Frutiger for ZKB Light</vt:lpstr>
      <vt:lpstr>Office Theme</vt:lpstr>
      <vt:lpstr>think-cell Folie</vt:lpstr>
      <vt:lpstr>Lorem ipsum  dolor sit amet, consetetur</vt:lpstr>
      <vt:lpstr>Agenda</vt:lpstr>
      <vt:lpstr>Text mit Bild links – 2 Spalten</vt:lpstr>
      <vt:lpstr>Text mit Bild rechts – 2 Spalten</vt:lpstr>
      <vt:lpstr>Textboxen – 1 Spalte</vt:lpstr>
      <vt:lpstr>Textboxen – 2 Spalten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Software-Entwicklung mit AI</dc:title>
  <dc:creator>AI-gestützte Softwareentwicklung: von Idee zu Code, Tests und Doku</dc:creator>
  <cp:keywords/>
  <cp:lastModifiedBy>Juerg Good</cp:lastModifiedBy>
  <cp:revision>1</cp:revision>
  <dcterms:created xsi:type="dcterms:W3CDTF">2026-01-14T06:28:45Z</dcterms:created>
  <dcterms:modified xsi:type="dcterms:W3CDTF">2026-01-14T06:29:29Z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Jürg Good 13.1.2026</vt:lpwstr>
  </property>
</Properties>
</file>