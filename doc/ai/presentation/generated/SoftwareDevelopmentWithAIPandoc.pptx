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emf" ContentType="image/x-emf"/>
  <Default Extension="jpeg" ContentType="image/jpeg"/>
  <Default Extension="jpg" ContentType="image/jpeg"/>
  <Override PartName="/docProps/app.xml" ContentType="application/vnd.openxmlformats-officedocument.extended-properties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91"/>
          <a:sy d="100" n="91"/>
        </p:scale>
        <p:origin x="108" y="140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7" Type="http://schemas.openxmlformats.org/officeDocument/2006/relationships/theme" Target="theme/theme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645F-1A31-6CE8-574C-18E1132DC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8D79D-50FF-8B59-04A1-B29713DAE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5305-14BF-5820-CD35-8619AD69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95871-525D-3BA6-E8EE-B5A72447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E07E3-893A-0853-3C7A-8C668F1A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115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A734B-4CD1-2DB0-7989-A2F00464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85F71-E08F-C375-773E-3F24B2B3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723F-79BB-3AAA-2D4F-11447865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851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889A-454C-2F0D-AD28-C2A5F380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B2B49-4CE6-CD43-6352-E229385F1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24EA-BE21-5A3C-9FEE-47B41FD5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D7C41-2A0C-B777-51BA-8891E08F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4E09C-F552-F2EC-2CE1-BC16886E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572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B4A00-0B7B-C24C-9E72-E5E324A66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8E839-9E94-873D-10A8-846AEFB9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4CD15-1079-5C98-706E-E902DC2C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E6689-E738-7C70-8B84-F3D781BA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44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E7E7-96FA-67F1-C1AF-6AE0E0A1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B2645-0175-507B-9634-97EBCC4E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9AD91-7C36-8CF9-B61A-91D6FFE45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5748DD-FDDB-A0B0-4B02-3404E19CE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8D38B-3A71-8433-843A-AE01E8E21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3B926-E6DF-FE18-0D2D-D3573B20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7788E4-70E6-44CA-D74A-D431E586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EDAF8-2112-E9DC-C955-342AEDAC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973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DC85-E0F7-4A7D-138C-EF9A1B13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2FDBE-648F-58E1-C14F-DE05ED90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400A4-5B96-24F1-9F17-70934F08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83FEC-706C-967F-D898-AEE20412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260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2A5EB-5A31-D7ED-13C0-EF35EB09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E9A6E-4C86-924D-8A71-9248D16F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6BA0E-364C-7212-62F7-A5023D87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032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87DB-CDB9-EF50-CBAF-39439BEB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AD62-4D6C-0287-5B38-7632F2F7F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473D0-8A21-A81C-AA62-A2C4197A1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6E07D-F383-ABBB-6184-740C86C9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CB14F-19CA-D5F9-9311-E010B5B0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62331-B11F-F9F4-384A-942A220F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954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4137-0E47-B67C-C936-950EAC53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494F4-DC2C-791F-93D2-947E86B48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DAD82-D473-88D5-185F-C52DAB657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55EE0-EE99-9C98-B11D-9FDA5813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86DA1-01CE-1A83-592D-135CF816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A987-8EDA-E615-B9E2-88266C6C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46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9ACA-9F1C-81D8-8EA0-7ABE9315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0B540-422B-4F87-B268-83469B644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29034-E9DF-BB05-8C73-A6C003B1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ED09-0611-4957-4CA6-FFFAC028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5DE66-FBD0-48BC-37D1-827493BC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803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475E0-0DA6-D8E9-13FB-C0C7768C3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84D5B-3BE1-6DF8-E2BA-6C5A04CDF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05979-2484-FF87-02F6-0AA1CF95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7A5FC-7247-1393-B726-CD920B2A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108C-07F3-F379-1929-726EB568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0857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bild">
            <a:extLst>
              <a:ext uri="{FF2B5EF4-FFF2-40B4-BE49-F238E27FC236}">
                <a16:creationId xmlns:a16="http://schemas.microsoft.com/office/drawing/2014/main" id="{3D1FB8BF-7CDF-39AE-7E27-7E86A69D916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365766F-6108-765D-42F9-80F55CD316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1" y="1787951"/>
            <a:ext cx="8618780" cy="450399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69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CH"/>
              <a:t>Präsentationstitel</a:t>
            </a:r>
            <a:br>
              <a:rPr lang="de-CH"/>
            </a:br>
            <a:r>
              <a:rPr lang="de-CH"/>
              <a:t>(max. dreizeilig)</a:t>
            </a:r>
            <a:endParaRPr lang="de-CH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7B1B45FA-E305-A413-78CB-99F3966EEEBE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90031" y="272970"/>
            <a:ext cx="8618780" cy="232706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17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  <a:lvl2pPr marL="433608" indent="0" algn="ctr">
              <a:buNone/>
            </a:lvl2pPr>
            <a:lvl3pPr marL="867217" indent="0" algn="ctr">
              <a:buNone/>
            </a:lvl3pPr>
            <a:lvl4pPr marL="1300825" indent="0" algn="ctr">
              <a:buNone/>
            </a:lvl4pPr>
            <a:lvl5pPr marL="1734434" indent="0" algn="ctr">
              <a:buNone/>
            </a:lvl5pPr>
            <a:lvl6pPr marL="2168042" indent="0" algn="ctr">
              <a:buNone/>
            </a:lvl6pPr>
            <a:lvl7pPr marL="2601651" indent="0" algn="ctr">
              <a:buNone/>
            </a:lvl7pPr>
            <a:lvl8pPr marL="3035259" indent="0" algn="ctr">
              <a:buNone/>
            </a:lvl8pPr>
            <a:lvl9pPr marL="3468868" indent="0" algn="ctr">
              <a:buNone/>
            </a:lvl9pPr>
          </a:lstStyle>
          <a:p>
            <a:r>
              <a:rPr lang="de-CH"/>
              <a:t>Titel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9A82973-AB3D-5053-4B99-D1016BB695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031" y="525467"/>
            <a:ext cx="8618780" cy="232706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CH"/>
              <a:t>Referenz, Abteilung, Datum</a:t>
            </a:r>
            <a:endParaRPr lang="de-CH" dirty="0"/>
          </a:p>
        </p:txBody>
      </p:sp>
      <p:pic>
        <p:nvPicPr>
          <p:cNvPr id="10" name="ZKB_LOGO">
            <a:extLst>
              <a:ext uri="{FF2B5EF4-FFF2-40B4-BE49-F238E27FC236}">
                <a16:creationId xmlns:a16="http://schemas.microsoft.com/office/drawing/2014/main" id="{5A92113E-222A-880D-9911-9770422C9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1478" y="296854"/>
            <a:ext cx="1900499" cy="443954"/>
          </a:xfrm>
          <a:prstGeom prst="rect">
            <a:avLst/>
          </a:prstGeom>
        </p:spPr>
      </p:pic>
      <p:sp>
        <p:nvSpPr>
          <p:cNvPr id="11" name="Hilfetext">
            <a:extLst>
              <a:ext uri="{FF2B5EF4-FFF2-40B4-BE49-F238E27FC236}">
                <a16:creationId xmlns:a16="http://schemas.microsoft.com/office/drawing/2014/main" id="{236C1A26-0EEE-D3C3-BCF4-BBC843AF15E3}"/>
              </a:ext>
            </a:extLst>
          </p:cNvPr>
          <p:cNvSpPr/>
          <p:nvPr userDrawn="1"/>
        </p:nvSpPr>
        <p:spPr>
          <a:xfrm>
            <a:off x="8973119" y="1312881"/>
            <a:ext cx="3059292" cy="1698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Bild Titelfolie ändern</a:t>
            </a: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über die ZKB-Lasche</a:t>
            </a: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Button: Bild Titelfolie</a:t>
            </a:r>
          </a:p>
        </p:txBody>
      </p:sp>
      <p:grpSp>
        <p:nvGrpSpPr>
          <p:cNvPr id="15" name="StempelA" hidden="1">
            <a:extLst>
              <a:ext uri="{FF2B5EF4-FFF2-40B4-BE49-F238E27FC236}">
                <a16:creationId xmlns:a16="http://schemas.microsoft.com/office/drawing/2014/main" id="{D45DCE91-4B51-CAEF-3B08-E0B079E6E462}"/>
              </a:ext>
            </a:extLst>
          </p:cNvPr>
          <p:cNvGrpSpPr/>
          <p:nvPr userDrawn="1"/>
        </p:nvGrpSpPr>
        <p:grpSpPr>
          <a:xfrm>
            <a:off x="11375960" y="6014647"/>
            <a:ext cx="526010" cy="277303"/>
            <a:chOff x="1270000" y="1270000"/>
            <a:chExt cx="554639" cy="292388"/>
          </a:xfrm>
        </p:grpSpPr>
        <p:sp>
          <p:nvSpPr>
            <p:cNvPr id="12" name="Textfeld 11" hidden="1">
              <a:extLst>
                <a:ext uri="{FF2B5EF4-FFF2-40B4-BE49-F238E27FC236}">
                  <a16:creationId xmlns:a16="http://schemas.microsoft.com/office/drawing/2014/main" id="{61BB873D-AA17-4BEA-EE14-5BAB2D51E1D3}"/>
                </a:ext>
              </a:extLst>
            </p:cNvPr>
            <p:cNvSpPr txBox="1"/>
            <p:nvPr userDrawn="1"/>
          </p:nvSpPr>
          <p:spPr>
            <a:xfrm>
              <a:off x="1270000" y="1270000"/>
              <a:ext cx="554639" cy="292388"/>
            </a:xfrm>
            <a:prstGeom prst="rect">
              <a:avLst/>
            </a:prstGeom>
            <a:noFill/>
            <a:ln cmpd="sng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88900" tIns="38100" rIns="76200" bIns="38100" rtlCol="0" anchor="t" anchorCtr="0">
              <a:noAutofit/>
            </a:bodyPr>
            <a:lstStyle/>
            <a:p>
              <a:pPr marL="0" indent="-271005" algn="l" defTabSz="269555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B4"/>
                </a:buClr>
                <a:buFont typeface="Frutiger for ZKB Light" panose="020B0303030504020204" pitchFamily="34" charset="0"/>
                <a:buNone/>
              </a:pPr>
              <a:r>
                <a:rPr lang="de-CH" sz="1328" b="0" i="0" u="none" dirty="0" err="1">
                  <a:solidFill>
                    <a:srgbClr val="003CB4"/>
                  </a:solidFill>
                  <a:latin typeface="Frutiger for ZKB Light" panose="020B0303030504020204" pitchFamily="34" charset="0"/>
                </a:rPr>
                <a:t>Draft</a:t>
              </a:r>
              <a:endParaRPr lang="de-CH" sz="1328" b="0" i="0" u="none" dirty="0">
                <a:solidFill>
                  <a:srgbClr val="003CB4"/>
                </a:solidFill>
                <a:latin typeface="Frutiger for ZKB Light" panose="020B0303030504020204" pitchFamily="34" charset="0"/>
              </a:endParaRPr>
            </a:p>
          </p:txBody>
        </p:sp>
        <p:cxnSp>
          <p:nvCxnSpPr>
            <p:cNvPr id="13" name="Gerader Verbinder 12" hidden="1">
              <a:extLst>
                <a:ext uri="{FF2B5EF4-FFF2-40B4-BE49-F238E27FC236}">
                  <a16:creationId xmlns:a16="http://schemas.microsoft.com/office/drawing/2014/main" id="{16BF8AA4-8278-0B95-C0B0-12B392F55CDC}"/>
                </a:ext>
              </a:extLst>
            </p:cNvPr>
            <p:cNvCxnSpPr/>
            <p:nvPr userDrawn="1"/>
          </p:nvCxnSpPr>
          <p:spPr>
            <a:xfrm>
              <a:off x="1270000" y="1270000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 hidden="1">
              <a:extLst>
                <a:ext uri="{FF2B5EF4-FFF2-40B4-BE49-F238E27FC236}">
                  <a16:creationId xmlns:a16="http://schemas.microsoft.com/office/drawing/2014/main" id="{844FC251-4BAA-4668-7D9D-87B05430ACE9}"/>
                </a:ext>
              </a:extLst>
            </p:cNvPr>
            <p:cNvCxnSpPr/>
            <p:nvPr userDrawn="1"/>
          </p:nvCxnSpPr>
          <p:spPr>
            <a:xfrm>
              <a:off x="1270000" y="1562388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774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A4AE7-72D4-F30F-AB0F-4EA3B9EA6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CH"/>
              <a:t>Agenda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2EFDAA-C170-A142-FCF2-9C9F638B9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AE186C-2DB2-92A1-3D70-E6BA1B57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8CF490-3399-447A-4FA8-C3B2DB430BE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90030" y="1787951"/>
            <a:ext cx="9656040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 dirty="0" err="1"/>
              <a:t>Agendapunkt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25992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4A75C-F916-4BBB-C762-C7B82E3D6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CH"/>
              <a:t>Titel (max. zweizeilig)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35A555B-E14C-1089-F1E0-19263815D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BAC495-E2B9-11BA-4B37-AE93E7D2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A0856B-745A-C4FD-017F-283D91F739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90031" y="1787951"/>
            <a:ext cx="5669488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814876-CE70-86F0-D8E3-B9AB5CC210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32481" y="1787951"/>
            <a:ext cx="5669488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01638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 Spalten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2250C-4FC6-E157-1E58-C36235997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CH"/>
              <a:t>Titel (max. zweizeilig)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CAAB6A-0383-42BA-C3C6-3ACEB23AA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F3EC20-05C3-76EB-FF1E-B5346B86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91030FD-48D8-BCF6-7B28-C54E16A06BE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90031" y="2402133"/>
            <a:ext cx="5669488" cy="388981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168B6A3-25D0-3CE9-E422-F5B8A29716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32481" y="2402133"/>
            <a:ext cx="5669488" cy="388981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36221A3-5F93-2D83-D956-206FC8292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0031" y="1787950"/>
            <a:ext cx="5669488" cy="61418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CH"/>
              <a:t>Untertitel</a:t>
            </a:r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C991335-357B-ACA8-4198-AD27EBDBF0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2481" y="1787950"/>
            <a:ext cx="5669488" cy="61418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CH"/>
              <a:t>Untertitel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5500203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theme/theme1.xml" Type="http://schemas.openxmlformats.org/officeDocument/2006/relationships/them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AFB7A-63F1-7031-A47A-ADF545E6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03C50-70CC-F7C7-F4EF-687D96DEF8E6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14178-AE9D-BD0C-8A82-A4C42D722FE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DCF47-76FA-4B38-9020-A0E57F41036A}" type="datetimeFigureOut">
              <a:rPr lang="de-CH" smtClean="0"/>
              <a:t>11.01.2026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CB1D-8930-30B2-9F21-5C742E24F0D0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F480D-A77D-EE8D-E026-FF0EC6FF0708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396631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645F-1A31-6CE8-574C-18E1132DC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Beschleunigung der Full-Stack-Entwicklung mit Junie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8D79D-50FF-8B59-04A1-B29713DAECD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Junie AI Team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5305-14BF-5820-CD35-8619AD69AED4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Januar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Punkt 1</a:t>
            </a:r>
          </a:p>
          <a:p>
            <a:pPr lvl="0"/>
            <a:r>
              <a:rPr/>
              <a:t>Punkt 2</a:t>
            </a:r>
          </a:p>
          <a:p>
            <a:pPr lvl="0"/>
            <a:r>
              <a:rPr/>
              <a:t>Punkt 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Anwendungsübersicht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Einheitliches Erlebnis: Nahtloses Aufgabenmanagement.</a:t>
            </a:r>
          </a:p>
          <a:p>
            <a:pPr lvl="0"/>
            <a:r>
              <a:rPr/>
              <a:t>Web-App: Modernes Angular-Dashboard.</a:t>
            </a:r>
          </a:p>
          <a:p>
            <a:pPr lvl="0"/>
            <a:r>
              <a:rPr/>
              <a:t>Android-App: Natives Erlebnis.</a:t>
            </a:r>
          </a:p>
        </p:txBody>
      </p:sp>
      <p:pic>
        <p:nvPicPr>
          <p:cNvPr descr="files/images/angular_task_menu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247900"/>
            <a:ext cx="51816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2b: Android-UI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Android-App: Natives Erlebnis.</a:t>
            </a:r>
          </a:p>
          <a:p>
            <a:pPr lvl="1"/>
            <a:r>
              <a:rPr/>
              <a:t>Generiert aus Angular Material.</a:t>
            </a:r>
          </a:p>
        </p:txBody>
      </p:sp>
      <p:pic>
        <p:nvPicPr>
          <p:cNvPr descr="files/images/android_task_menu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89700" y="1816100"/>
            <a:ext cx="4546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87DB-CDB9-EF50-CBAF-39439BEB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Folie 3: Architekturübersicht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473D0-8A21-A81C-AA62-A2C4197A1DEC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Client-Ebene: Angular &amp; Jetpack Compose.</a:t>
            </a:r>
          </a:p>
          <a:p>
            <a:pPr lvl="0"/>
            <a:r>
              <a:rPr/>
              <a:t>API-Ebene: Spring Boot REST-API.</a:t>
            </a:r>
          </a:p>
          <a:p>
            <a:pPr lvl="0"/>
            <a:r>
              <a:rPr/>
              <a:t>Persistenz: PostgreSQL (AWS RDS).</a:t>
            </a:r>
          </a:p>
          <a:p>
            <a:pPr lvl="0"/>
            <a:r>
              <a:rPr/>
              <a:t>Infrastruktur: Containerisiert auf AWS ECS Fargate.</a:t>
            </a:r>
          </a:p>
        </p:txBody>
      </p:sp>
      <p:pic>
        <p:nvPicPr>
          <p:cNvPr descr="files/generated/architecture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104900"/>
            <a:ext cx="6172200" cy="459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87DB-CDB9-EF50-CBAF-39439BEB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Folie 4: Datenbankschema (ER-Diagramm)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473D0-8A21-A81C-AA62-A2C4197A1DEC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Automatisierte Schema-Generierung.</a:t>
            </a:r>
          </a:p>
          <a:p>
            <a:pPr lvl="0"/>
            <a:r>
              <a:rPr/>
              <a:t>Entitäten: User, Task, Priority, TaskStatus.</a:t>
            </a:r>
          </a:p>
          <a:p>
            <a:pPr lvl="0"/>
            <a:r>
              <a:rPr/>
              <a:t>Beziehungen: User (1) zu Task (N).</a:t>
            </a:r>
          </a:p>
          <a:p>
            <a:pPr lvl="0"/>
            <a:r>
              <a:rPr/>
              <a:t>Migration: Verwaltet über Flyway.</a:t>
            </a:r>
          </a:p>
        </p:txBody>
      </p:sp>
      <p:pic>
        <p:nvPicPr>
          <p:cNvPr descr="files/generated/e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54700" y="977900"/>
            <a:ext cx="4813300" cy="486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5: Lokales Entwicklungs-Setup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IntelliJ IDEA + Junie</a:t>
            </a:r>
            <a:r>
              <a:rPr/>
              <a:t>: Backend &amp; Frontend Kern.</a:t>
            </a:r>
          </a:p>
          <a:p>
            <a:pPr lvl="0"/>
            <a:r>
              <a:rPr b="1"/>
              <a:t>Android Studio + Gemini</a:t>
            </a:r>
            <a:r>
              <a:rPr/>
              <a:t>: Native mobile Entwicklung.</a:t>
            </a:r>
          </a:p>
          <a:p>
            <a:pPr lvl="0"/>
            <a:r>
              <a:rPr b="1"/>
              <a:t>Docker unter Windows</a:t>
            </a:r>
            <a:r>
              <a:rPr/>
              <a:t>: Lokales PostgreSQL.</a:t>
            </a:r>
          </a:p>
        </p:txBody>
      </p:sp>
      <p:pic>
        <p:nvPicPr>
          <p:cNvPr descr="files/generated/local_dev_set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705100"/>
            <a:ext cx="5181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6: Backend-Exzellenz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Spring Boot 4 &amp; JPA.</a:t>
            </a:r>
          </a:p>
          <a:p>
            <a:pPr lvl="0"/>
            <a:r>
              <a:rPr/>
              <a:t>Clean Code: DTO-basierte Kommunikation.</a:t>
            </a:r>
          </a:p>
          <a:p>
            <a:pPr lvl="0"/>
            <a:r>
              <a:rPr/>
              <a:t>Sicherheit: Rollenbasierte Zugriffskontrolle.</a:t>
            </a:r>
          </a:p>
          <a:p>
            <a:pPr lvl="0"/>
            <a:r>
              <a:rPr/>
              <a:t>Junies Rolle: Scaffolding und Abfrageoptimierung.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7: Modernes 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Angular 21+ mit Signals.</a:t>
            </a:r>
          </a:p>
          <a:p>
            <a:pPr lvl="0"/>
            <a:r>
              <a:rPr/>
              <a:t>Standalone-Komponenten.</a:t>
            </a:r>
          </a:p>
          <a:p>
            <a:pPr lvl="0"/>
            <a:r>
              <a:rPr/>
              <a:t>Material 3 Design.</a:t>
            </a:r>
          </a:p>
          <a:p>
            <a:pPr lvl="0"/>
            <a:r>
              <a:rPr/>
              <a:t>Junies Rolle: Schnelles UI-Scaffolding.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8: KI-gesteuerte Entwicklung mit Junie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Kontextbewusstsein über den gesamten Stack.</a:t>
            </a:r>
          </a:p>
          <a:p>
            <a:pPr lvl="0"/>
            <a:r>
              <a:rPr/>
              <a:t>Unit-Test-Generierung (JUnit, Vitest).</a:t>
            </a:r>
          </a:p>
          <a:p>
            <a:pPr lvl="0"/>
            <a:r>
              <a:rPr/>
              <a:t>Befehlsausführung aus der IDE.</a:t>
            </a:r>
          </a:p>
          <a:p>
            <a:pPr lvl="0"/>
            <a:r>
              <a:rPr/>
              <a:t>40 % Produktivitätssteigerung.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9: Fallstudie: DB-Entwicklung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Problem: Synchronisierung des Schemas zwischen Backend und Mobile.</a:t>
            </a:r>
          </a:p>
          <a:p>
            <a:pPr lvl="0"/>
            <a:r>
              <a:rPr/>
              <a:t>Prozess: Entität ändern -&gt; Junie generiert Flyway-SQL.</a:t>
            </a:r>
          </a:p>
          <a:p>
            <a:pPr lvl="0"/>
            <a:r>
              <a:rPr/>
              <a:t>Synchronisierung: Junie aktualisiert Android Room-Skripte.</a:t>
            </a:r>
          </a:p>
          <a:p>
            <a:pPr lvl="0"/>
            <a:r>
              <a:rPr/>
              <a:t>Ergebnis: Reibungslose Schema-Updates.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9c: Two content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Backend &amp; Frontend Kern.</a:t>
            </a:r>
          </a:p>
          <a:p>
            <a:pPr lvl="0"/>
            <a:r>
              <a:rPr/>
              <a:t>Native mobile Entwicklung.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B4A00-0B7B-C24C-9E72-E5E324A66CC8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Lokales PostgreSQL.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10: Fazit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Intelligenter bauen, nicht härter, mit Junie AI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Microsoft Office PowerPoint</Application>
  <PresentationFormat>Widescreen</PresentationFormat>
  <Paragraphs>58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Aharoni</vt:lpstr>
      <vt:lpstr>Aptos</vt:lpstr>
      <vt:lpstr>Aptos Display</vt:lpstr>
      <vt:lpstr>Arial</vt:lpstr>
      <vt:lpstr>Frutiger for ZKB Light</vt:lpstr>
      <vt:lpstr>Office Theme</vt:lpstr>
      <vt:lpstr>think-cell Folie</vt:lpstr>
      <vt:lpstr>Lorem ipsum  dolor sit amet, consetetur</vt:lpstr>
      <vt:lpstr>Agenda</vt:lpstr>
      <vt:lpstr>Text mit Bild links – 2 Spalten</vt:lpstr>
      <vt:lpstr>Text mit Bild rechts – 2 Spalten</vt:lpstr>
      <vt:lpstr>Textboxen – 1 Spalte</vt:lpstr>
      <vt:lpstr>Textboxen – 2 Spalten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Beschleunigung der Full-Stack-Entwicklung mit Junie AI</dc:title>
  <dc:creator>Junie AI Team</dc:creator>
  <cp:keywords/>
  <dcterms:created xsi:type="dcterms:W3CDTF">2026-01-11T18:08:12Z</dcterms:created>
  <dcterms:modified xsi:type="dcterms:W3CDTF">2026-01-11T18:08:12Z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11. Januar 2026</vt:lpwstr>
  </property>
</Properties>
</file>