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" name="Title 1"/>
          <p:cNvSpPr>
            <a:spLocks noGrp="1"/>
          </p:cNvSpPr>
          <p:nvPr>
            <p:ph type="ctrTitle"/>
          </p:nvPr>
        </p:nvSpPr>
        <p:spPr>
          <a:xfrm>
            <a:off x="304800" y="1879600"/>
            <a:ext cx="9080500" cy="4749800"/>
          </a:xfrm>
        </p:spPr>
        <p:txBody>
          <a:bodyPr/>
          <a:lstStyle/>
          <a:p>
            <a:r>
              <a:rPr lang="en-US" sz="3600" b="tru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id="10006" name="Subtitle 2"/>
          <p:cNvSpPr>
            <a:spLocks noGrp="1"/>
          </p:cNvSpPr>
          <p:nvPr>
            <p:ph type="subTitle" idx="1"/>
          </p:nvPr>
        </p:nvSpPr>
        <p:spPr>
          <a:xfrm>
            <a:off x="304800" y="292100"/>
            <a:ext cx="9080500" cy="25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400" b="fals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id="100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tru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id="100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false">
                <a:solidFill>
                  <a:srgbClr val="000000"/>
                </a:solidFill>
                <a:latin typeface="Frutiger for ZKB Light"/>
              </a:rPr>
            </a:r>
          </a:p>
        </p:txBody>
      </p:sp>
      <p:sp>
        <p:nvSpPr>
          <p:cNvPr id="100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900" b="false">
                <a:solidFill>
                  <a:srgbClr val="003CD3"/>
                </a:solidFill>
                <a:latin typeface="Frutiger for ZKB Light"/>
              </a:rPr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6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4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true">
                <a:solidFill>
                  <a:srgbClr val="003CD3"/>
                </a:solidFill>
                <a:latin typeface="Frutiger for ZKB Light"/>
              </a:rPr>
            </a:r>
          </a:p>
        </p:txBody>
      </p:sp>
      <p:sp>
        <p:nvSpPr>
          <p:cNvPr id="10052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879600"/>
            <a:ext cx="4826000" cy="4749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r>
              <a:rPr lang="en-US" sz="1800" b="false">
                <a:solidFill>
                  <a:srgbClr val="000000"/>
                </a:solidFill>
                <a:latin typeface="Frutiger for ZKB Light"/>
              </a:rPr>
            </a:r>
          </a:p>
        </p:txBody>
      </p:sp>
      <p:sp>
        <p:nvSpPr>
          <p:cNvPr id="10053" name="Content Placeholder 3"/>
          <p:cNvSpPr>
            <a:spLocks noGrp="1"/>
          </p:cNvSpPr>
          <p:nvPr>
            <p:ph sz="half" idx="2"/>
          </p:nvPr>
        </p:nvSpPr>
        <p:spPr>
          <a:xfrm>
            <a:off x="5664200" y="1879600"/>
            <a:ext cx="4826000" cy="4749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r>
              <a:rPr lang="en-US" sz="1800" b="false">
                <a:solidFill>
                  <a:srgbClr val="000000"/>
                </a:solidFill>
                <a:latin typeface="Frutiger for ZKB Light"/>
              </a:rPr>
            </a:r>
          </a:p>
        </p:txBody>
      </p:sp>
      <p:sp>
        <p:nvSpPr>
          <p:cNvPr id="100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900" b="false">
                <a:solidFill>
                  <a:srgbClr val="003CD3"/>
                </a:solidFill>
                <a:latin typeface="Frutiger for ZKB Light"/>
              </a:rPr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1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2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2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2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25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2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2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2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0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3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7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58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5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1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100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0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03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Title Placeholder 1"/>
          <p:cNvSpPr>
            <a:spLocks noGrp="1"/>
          </p:cNvSpPr>
          <p:nvPr>
            <p:ph type="title"/>
          </p:nvPr>
        </p:nvSpPr>
        <p:spPr>
          <a:xfrm>
            <a:off x="304800" y="292100"/>
            <a:ext cx="101854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001" name="Text Placeholder 2"/>
          <p:cNvSpPr>
            <a:spLocks noGrp="1"/>
          </p:cNvSpPr>
          <p:nvPr>
            <p:ph type="body" idx="1"/>
          </p:nvPr>
        </p:nvSpPr>
        <p:spPr>
          <a:xfrm>
            <a:off x="304800" y="1879600"/>
            <a:ext cx="10185400" cy="474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0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1000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00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794500"/>
            <a:ext cx="1270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lang="en-US"/>
              <a:t>Presentation Title</a:t>
            </a:r>
          </a:p>
        </p:txBody>
      </p:sp>
      <p:sp>
        <p:nvSpPr>
          <p:cNvPr id="10064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dirty="0" lang="en-US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Slide Title</a:t>
            </a:r>
          </a:p>
        </p:txBody>
      </p:sp>
      <p:sp>
        <p:nvSpPr>
          <p:cNvPr id="100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dirty="0" lang="en-US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Section header</a:t>
            </a:r>
          </a:p>
        </p:txBody>
      </p:sp>
      <p:sp>
        <p:nvSpPr>
          <p:cNvPr id="10068" name="Text Placeholder 2"/>
          <p:cNvSpPr>
            <a:spLocks noGrp="1"/>
          </p:cNvSpPr>
          <p:nvPr>
            <p:ph idx="1" type="body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Slide Title for Two-Content</a:t>
            </a:r>
          </a:p>
        </p:txBody>
      </p:sp>
      <p:sp>
        <p:nvSpPr>
          <p:cNvPr id="10070" name="Content Placeholder 4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dirty="0" lang="en-US"/>
              <a:t>Some content on </a:t>
            </a:r>
            <a:r>
              <a:rPr lang="en-US"/>
              <a:t>the left.</a:t>
            </a: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  <p:sp>
        <p:nvSpPr>
          <p:cNvPr id="10071" name="Content Placeholder 5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dirty="0" lang="en-US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CD3"/>
                </a:solidFill>
                <a:latin typeface="Frutiger for ZKB Light"/>
              </a:defRPr>
            </a:pPr>
            <a:r>
              <a:t>Software-Entwicklung mit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003CD3"/>
                </a:solidFill>
                <a:latin typeface="Frutiger for ZKB Light"/>
              </a:defRPr>
            </a:pPr>
            <a:r>
              <a:t>Von Idee zu Code, Tests, QA und Doku – mit Junie AI &amp; ChatGPT</a:t>
            </a:r>
          </a:p>
          <a:p>
            <a:r>
              <a:t>Jürg Good · 19.1.2026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CD3"/>
                </a:solidFill>
                <a:latin typeface="Frutiger for ZKB Light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>
                <a:latin typeface="Frutiger for ZKB Light"/>
              </a:defRPr>
            </a:pPr>
            <a:r>
              <a:t>|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CD3"/>
                </a:solidFill>
                <a:latin typeface="Frutiger for ZKB Light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>
                <a:latin typeface="Frutiger for ZKB Light"/>
              </a:defRPr>
            </a:pPr>
            <a:r>
              <a:t>|</a:t>
            </a:r>
          </a:p>
          <a:p>
            <a:pPr>
              <a:defRPr sz="2200">
                <a:latin typeface="Frutiger for ZKB Light"/>
              </a:defRPr>
            </a:pPr>
            <a:r>
              <a:t>| **Backend** | Java 21, Spring Boot, JPA, Security, Maven |</a:t>
            </a:r>
          </a:p>
          <a:p>
            <a:pPr>
              <a:defRPr sz="2200">
                <a:latin typeface="Frutiger for ZKB Light"/>
              </a:defRPr>
            </a:pPr>
            <a:r>
              <a:t>| **Frontend** | Angular, TypeScript, Material, Signals |</a:t>
            </a:r>
          </a:p>
          <a:p>
            <a:pPr>
              <a:defRPr sz="2200">
                <a:latin typeface="Frutiger for ZKB Light"/>
              </a:defRPr>
            </a:pPr>
            <a:r>
              <a:t>| **Mobile** | Android (Jetpack Compose, Kotlin) |</a:t>
            </a:r>
          </a:p>
          <a:p>
            <a:pPr>
              <a:defRPr sz="2200">
                <a:latin typeface="Frutiger for ZKB Light"/>
              </a:defRPr>
            </a:pPr>
            <a:r>
              <a:t>| **DevOps** | Docker, AWS RDS/Fargate, SonarCloud |</a:t>
            </a:r>
          </a:p>
          <a:p>
            <a:pPr>
              <a:defRPr sz="2200">
                <a:latin typeface="Frutiger for ZKB Light"/>
              </a:defRPr>
            </a:pPr>
            <a:r>
              <a:t>| Komponente | Dateien | Ca. LOC |</a:t>
            </a:r>
          </a:p>
          <a:p>
            <a:pPr>
              <a:defRPr sz="2200">
                <a:latin typeface="Frutiger for ZKB Light"/>
              </a:defRPr>
            </a:pPr>
            <a:r>
              <a:t>|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CD3"/>
                </a:solidFill>
                <a:latin typeface="Frutiger for ZKB Light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>
                <a:latin typeface="Frutiger for ZKB Light"/>
              </a:defRPr>
            </a:pPr>
            <a:r>
              <a:t>|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CD3"/>
                </a:solidFill>
                <a:latin typeface="Frutiger for ZKB Light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>
                <a:latin typeface="Frutiger for ZKB Light"/>
              </a:defRPr>
            </a:pPr>
            <a:r>
              <a:t>|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CD3"/>
                </a:solidFill>
                <a:latin typeface="Frutiger for ZKB Light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>
                <a:latin typeface="Frutiger for ZKB Light"/>
              </a:defRPr>
            </a:pPr>
            <a:r>
              <a:t>|</a:t>
            </a:r>
          </a:p>
          <a:p>
            <a:pPr>
              <a:defRPr sz="2200">
                <a:latin typeface="Frutiger for ZKB Light"/>
              </a:defRPr>
            </a:pPr>
            <a:r>
              <a:t>| **Backend** | 42 | ~2'400 |</a:t>
            </a:r>
          </a:p>
          <a:p>
            <a:pPr>
              <a:defRPr sz="2200">
                <a:latin typeface="Frutiger for ZKB Light"/>
              </a:defRPr>
            </a:pPr>
            <a:r>
              <a:t>| **Frontend** | 43+ | ~5'300 |</a:t>
            </a:r>
          </a:p>
          <a:p>
            <a:pPr>
              <a:defRPr sz="2200">
                <a:latin typeface="Frutiger for ZKB Light"/>
              </a:defRPr>
            </a:pPr>
            <a:r>
              <a:t>| **Android** | 147 | ~7'900 |</a:t>
            </a:r>
          </a:p>
          <a:p>
            <a:pPr>
              <a:defRPr sz="2200">
                <a:latin typeface="Frutiger for ZKB Light"/>
              </a:defRPr>
            </a:pPr>
            <a:r>
              <a:t>| **Total** | **~240+** | **~16'500+** |</a:t>
            </a:r>
          </a:p>
          <a:p>
            <a:pPr>
              <a:defRPr sz="2200">
                <a:latin typeface="Frutiger for ZKB Light"/>
              </a:defRPr>
            </a:pPr>
            <a:r>
              <a:t># Qualitätssicherung (QA) KPIs</a:t>
            </a:r>
          </a:p>
          <a:p>
            <a:pPr>
              <a:defRPr sz="2200">
                <a:latin typeface="Frutiger for ZKB Light"/>
              </a:defRPr>
            </a:pPr>
            <a:r>
              <a:t>| Bereich | Werkzeuge | Metrik |</a:t>
            </a:r>
          </a:p>
          <a:p>
            <a:pPr>
              <a:defRPr sz="2200">
                <a:latin typeface="Frutiger for ZKB Light"/>
              </a:defRPr>
            </a:pPr>
            <a:r>
              <a:t>|:--|:--|:--|</a:t>
            </a:r>
          </a:p>
          <a:p>
            <a:pPr>
              <a:defRPr sz="2200">
                <a:latin typeface="Frutiger for ZKB Light"/>
              </a:defRPr>
            </a:pPr>
            <a:r>
              <a:t>| **Backend** | JUnit 5, Mockito, JaCoCo | ~82% Zeilen-Abdeckung |</a:t>
            </a:r>
          </a:p>
          <a:p>
            <a:pPr>
              <a:defRPr sz="2200">
                <a:latin typeface="Frutiger for ZKB Light"/>
              </a:defRPr>
            </a:pPr>
            <a:r>
              <a:t>| **Frontend** | Vitest, Cypress, NYC | ~81% Zeilen-Abdeckung |</a:t>
            </a:r>
          </a:p>
          <a:p>
            <a:pPr>
              <a:defRPr sz="2200">
                <a:latin typeface="Frutiger for ZKB Light"/>
              </a:defRPr>
            </a:pPr>
            <a:r>
              <a:t>| **Analyse** | SonarCloud, Qodana | Clean Code / A-Rating |</a:t>
            </a:r>
          </a:p>
          <a:p>
            <a:pPr>
              <a:defRPr sz="2200">
                <a:latin typeface="Frutiger for ZKB Light"/>
              </a:defRPr>
            </a:pPr>
            <a:r>
              <a:t>| **Automatisierung** | GitHub Actions | Automatisierter Build &amp; Test |</a:t>
            </a:r>
          </a:p>
          <a:p>
            <a:pPr>
              <a:defRPr sz="2200">
                <a:latin typeface="Frutiger for ZKB Light"/>
              </a:defRPr>
            </a:pPr>
            <a:r>
              <a:t># Management-Takeaway: AI in der Software-Entwicklung</a:t>
            </a:r>
          </a:p>
          <a:p>
            <a:pPr>
              <a:defRPr sz="2200">
                <a:latin typeface="Frutiger for ZKB Light"/>
              </a:defRPr>
            </a:pPr>
            <a:r>
              <a:t>**Schneller**: Features, Fixes und QA in kürzerer Zeit</a:t>
            </a:r>
          </a:p>
          <a:p>
            <a:pPr>
              <a:defRPr sz="2200">
                <a:latin typeface="Frutiger for ZKB Light"/>
              </a:defRPr>
            </a:pPr>
            <a:r>
              <a:t>**Besser**: Tests &amp; Code-Qualität von Anfang an</a:t>
            </a:r>
          </a:p>
          <a:p>
            <a:pPr>
              <a:defRPr sz="2200">
                <a:latin typeface="Frutiger for ZKB Light"/>
              </a:defRPr>
            </a:pPr>
            <a:r>
              <a:t>**Skalierbar**: Gleiches Vorgehen für Web &amp; Mobile</a:t>
            </a:r>
          </a:p>
          <a:p>
            <a:pPr>
              <a:defRPr sz="2200">
                <a:latin typeface="Frutiger for ZKB Light"/>
              </a:defRPr>
            </a:pPr>
            <a:r>
              <a:t>**Kontrolliert**: Entwickler entscheidet, AI unterstützt</a:t>
            </a:r>
          </a:p>
          <a:p>
            <a:pPr>
              <a:defRPr sz="2200">
                <a:latin typeface="Frutiger for ZKB Light"/>
              </a:defRPr>
            </a:pPr>
            <a:r>
              <a:t># Executive Summary – AI-gestützte Software-Entwicklung</a:t>
            </a:r>
          </a:p>
          <a:p>
            <a:pPr>
              <a:defRPr sz="2200">
                <a:latin typeface="Frutiger for ZKB Light"/>
              </a:defRPr>
            </a:pPr>
            <a:r>
              <a:t>**Produktivität**: Deutlich schnellere Umsetzung von Features &amp; Fixes</a:t>
            </a:r>
          </a:p>
          <a:p>
            <a:pPr>
              <a:defRPr sz="2200">
                <a:latin typeface="Frutiger for ZKB Light"/>
              </a:defRPr>
            </a:pPr>
            <a:r>
              <a:t>**Qualität**: Tests und Code-Reviews von Beginn an integriert</a:t>
            </a:r>
          </a:p>
          <a:p>
            <a:pPr>
              <a:defRPr sz="2200">
                <a:latin typeface="Frutiger for ZKB Light"/>
              </a:defRPr>
            </a:pPr>
            <a:r>
              <a:t>**Skalierung**: Gleiches Vorgehen für Web, Mobile &amp; Backend</a:t>
            </a:r>
          </a:p>
          <a:p>
            <a:pPr>
              <a:defRPr sz="2200">
                <a:latin typeface="Frutiger for ZKB Light"/>
              </a:defRPr>
            </a:pPr>
            <a:r>
              <a:t>**Risiko**: Entwickler behält Kontrolle, klare Leitplanken nötig</a:t>
            </a:r>
          </a:p>
          <a:p>
            <a:pPr>
              <a:defRPr sz="2200">
                <a:latin typeface="Frutiger for ZKB Light"/>
              </a:defRPr>
            </a:pPr>
            <a:r>
              <a:t>**Empfehlung**: AI gezielt im Entwicklungsprozess verankern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794500"/>
            <a:ext cx="127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3CD3"/>
                </a:solidFill>
                <a:latin typeface="Frutiger for ZKB Light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6794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Frutiger for ZKB Light"/>
              </a:defRPr>
            </a:pPr>
            <a:r>
              <a:t>AngularAI - Softwareentwicklung mit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rutiger for ZKB Light"/>
        <a:ea typeface="Frutiger for ZKB Light"/>
        <a:cs typeface="Frutiger for ZKB Ligh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utiger for ZKB Light"/>
        <a:ea typeface="Frutiger for ZKB Light"/>
        <a:cs typeface="Frutiger for ZKB Light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2017-06-05T14:10:58Z</dcterms:created>
  <dc:creator>Jesse Rosenthal</dc:creator>
  <cp:lastModifiedBy>Jesse Rosenthal</cp:lastModifiedBy>
  <dcterms:modified xsi:type="dcterms:W3CDTF">2022-01-02T22:49:03Z</dcterms:modified>
  <cp:revision>5</cp:revision>
  <dc:title>Title</dc:title>
</cp:coreProperties>
</file>